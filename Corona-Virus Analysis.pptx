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</p:sldIdLst>
  <p:sldSz cx="18288000" cy="10287000"/>
  <p:notesSz cx="6858000" cy="9144000"/>
  <p:embeddedFontLst>
    <p:embeddedFont>
      <p:font typeface="Cambria Bold" charset="1" panose="02040803050406030204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fonts/font25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png" Type="http://schemas.openxmlformats.org/officeDocument/2006/relationships/image"/><Relationship Id="rId4" Target="../media/image4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5.png" Type="http://schemas.openxmlformats.org/officeDocument/2006/relationships/image"/><Relationship Id="rId4" Target="../media/image4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6.png" Type="http://schemas.openxmlformats.org/officeDocument/2006/relationships/image"/><Relationship Id="rId4" Target="../media/image7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8.png" Type="http://schemas.openxmlformats.org/officeDocument/2006/relationships/image"/><Relationship Id="rId4" Target="../media/image9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10.png" Type="http://schemas.openxmlformats.org/officeDocument/2006/relationships/image"/><Relationship Id="rId4" Target="../media/image11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12.png" Type="http://schemas.openxmlformats.org/officeDocument/2006/relationships/image"/><Relationship Id="rId4" Target="../media/image13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14.png" Type="http://schemas.openxmlformats.org/officeDocument/2006/relationships/image"/><Relationship Id="rId4" Target="../media/image15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16.png" Type="http://schemas.openxmlformats.org/officeDocument/2006/relationships/image"/><Relationship Id="rId4" Target="../media/image17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18.png" Type="http://schemas.openxmlformats.org/officeDocument/2006/relationships/image"/><Relationship Id="rId4" Target="../media/image19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20.png" Type="http://schemas.openxmlformats.org/officeDocument/2006/relationships/image"/><Relationship Id="rId4" Target="../media/image21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22.png" Type="http://schemas.openxmlformats.org/officeDocument/2006/relationships/image"/><Relationship Id="rId4" Target="../media/image23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24.png" Type="http://schemas.openxmlformats.org/officeDocument/2006/relationships/image"/><Relationship Id="rId4" Target="../media/image25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26.png" Type="http://schemas.openxmlformats.org/officeDocument/2006/relationships/image"/><Relationship Id="rId4" Target="../media/image27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28.png" Type="http://schemas.openxmlformats.org/officeDocument/2006/relationships/image"/><Relationship Id="rId4" Target="../media/image29.pn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0.png" Type="http://schemas.openxmlformats.org/officeDocument/2006/relationships/image"/><Relationship Id="rId4" Target="../media/image31.pn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2.png" Type="http://schemas.openxmlformats.org/officeDocument/2006/relationships/image"/><Relationship Id="rId4" Target="../media/image33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250" t="0" r="-625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3007643" y="873174"/>
            <a:ext cx="12751183" cy="7799024"/>
            <a:chOff x="0" y="0"/>
            <a:chExt cx="3358336" cy="2054064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58336" cy="2054064"/>
            </a:xfrm>
            <a:custGeom>
              <a:avLst/>
              <a:gdLst/>
              <a:ahLst/>
              <a:cxnLst/>
              <a:rect r="r" b="b" t="t" l="l"/>
              <a:pathLst>
                <a:path h="2054064" w="3358336">
                  <a:moveTo>
                    <a:pt x="0" y="0"/>
                  </a:moveTo>
                  <a:lnTo>
                    <a:pt x="3358336" y="0"/>
                  </a:lnTo>
                  <a:lnTo>
                    <a:pt x="3358336" y="2054064"/>
                  </a:lnTo>
                  <a:lnTo>
                    <a:pt x="0" y="2054064"/>
                  </a:lnTo>
                  <a:close/>
                </a:path>
              </a:pathLst>
            </a:custGeom>
            <a:solidFill>
              <a:srgbClr val="0097B2">
                <a:alpha val="58824"/>
              </a:srgbClr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3358336" cy="209216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4245680" y="2406361"/>
            <a:ext cx="10275109" cy="36410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560"/>
              </a:lnSpc>
            </a:pPr>
            <a:r>
              <a:rPr lang="en-US" sz="10400" b="true">
                <a:solidFill>
                  <a:srgbClr val="024357"/>
                </a:solidFill>
                <a:latin typeface="Cambria Bold"/>
                <a:ea typeface="Cambria Bold"/>
                <a:cs typeface="Cambria Bold"/>
                <a:sym typeface="Cambria Bold"/>
              </a:rPr>
              <a:t>CORONA </a:t>
            </a:r>
            <a:r>
              <a:rPr lang="en-US" sz="10400" b="true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- VIRUS </a:t>
            </a:r>
          </a:p>
          <a:p>
            <a:pPr algn="ctr">
              <a:lnSpc>
                <a:spcPts val="14560"/>
              </a:lnSpc>
              <a:spcBef>
                <a:spcPct val="0"/>
              </a:spcBef>
            </a:pPr>
            <a:r>
              <a:rPr lang="en-US" b="true" sz="10400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Analysis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745863" y="7489871"/>
            <a:ext cx="3159919" cy="589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b="true" sz="3399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-By Ranjitha H S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250" t="0" r="-625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714342" y="520315"/>
            <a:ext cx="16859315" cy="9246371"/>
            <a:chOff x="0" y="0"/>
            <a:chExt cx="4440314" cy="243525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40313" cy="2435258"/>
            </a:xfrm>
            <a:custGeom>
              <a:avLst/>
              <a:gdLst/>
              <a:ahLst/>
              <a:cxnLst/>
              <a:rect r="r" b="b" t="t" l="l"/>
              <a:pathLst>
                <a:path h="2435258" w="4440313">
                  <a:moveTo>
                    <a:pt x="0" y="0"/>
                  </a:moveTo>
                  <a:lnTo>
                    <a:pt x="4440313" y="0"/>
                  </a:lnTo>
                  <a:lnTo>
                    <a:pt x="4440313" y="2435258"/>
                  </a:lnTo>
                  <a:lnTo>
                    <a:pt x="0" y="2435258"/>
                  </a:lnTo>
                  <a:close/>
                </a:path>
              </a:pathLst>
            </a:custGeom>
            <a:solidFill>
              <a:srgbClr val="0097B2">
                <a:alpha val="58824"/>
              </a:srgbClr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40314" cy="247335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028700" y="1622282"/>
            <a:ext cx="16285152" cy="160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The objective of coronavirus analysis is to monitor how COVID-19 spreads and affects people by looking at data on cases, recoveries, and and deaths deaths in differe different areas over time. This includes: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399985" y="680402"/>
            <a:ext cx="16859315" cy="629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179"/>
              </a:lnSpc>
              <a:spcBef>
                <a:spcPct val="0"/>
              </a:spcBef>
            </a:pPr>
            <a:r>
              <a:rPr lang="en-US" b="true" sz="3699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Objective </a:t>
            </a:r>
            <a:r>
              <a:rPr lang="en-US" b="true" sz="3699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of the Project : 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3555857"/>
            <a:ext cx="16285152" cy="51770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5567" indent="-267783" lvl="1">
              <a:lnSpc>
                <a:spcPts val="3472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2480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Monitor Pandemic Trends: Analyze c</a:t>
            </a:r>
            <a:r>
              <a:rPr lang="en-US" b="true" sz="2480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onfirmed cases, recoveries, and deaths over time to understand the progression and severity of COVID-19.</a:t>
            </a:r>
          </a:p>
          <a:p>
            <a:pPr algn="l">
              <a:lnSpc>
                <a:spcPts val="3332"/>
              </a:lnSpc>
              <a:spcBef>
                <a:spcPct val="0"/>
              </a:spcBef>
            </a:pPr>
          </a:p>
          <a:p>
            <a:pPr algn="l" marL="535567" indent="-267783" lvl="1">
              <a:lnSpc>
                <a:spcPts val="3472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2480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Geographical Spread Analysis: Use latitude and longitude data to visualize and track the regional and global spread of the virus.</a:t>
            </a:r>
          </a:p>
          <a:p>
            <a:pPr algn="l">
              <a:lnSpc>
                <a:spcPts val="3332"/>
              </a:lnSpc>
              <a:spcBef>
                <a:spcPct val="0"/>
              </a:spcBef>
            </a:pPr>
          </a:p>
          <a:p>
            <a:pPr algn="l" marL="535567" indent="-267783" lvl="1">
              <a:lnSpc>
                <a:spcPts val="3472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2480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Trend &amp; Pattern Identification: Identify growth patterns, peak periods, recovery rates, and regional variations through time-series analysis.</a:t>
            </a:r>
          </a:p>
          <a:p>
            <a:pPr algn="l">
              <a:lnSpc>
                <a:spcPts val="3332"/>
              </a:lnSpc>
              <a:spcBef>
                <a:spcPct val="0"/>
              </a:spcBef>
            </a:pPr>
          </a:p>
          <a:p>
            <a:pPr algn="l" marL="535567" indent="-267783" lvl="1">
              <a:lnSpc>
                <a:spcPts val="3472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2480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Forecasting &amp; Impact Assessment: Apply analytical and predictive models to estimate future case trends and compare the pandemic’s impact across different regions.</a:t>
            </a:r>
          </a:p>
          <a:p>
            <a:pPr algn="ctr">
              <a:lnSpc>
                <a:spcPts val="3332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250" t="0" r="-625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714342" y="520315"/>
            <a:ext cx="16859315" cy="9246371"/>
            <a:chOff x="0" y="0"/>
            <a:chExt cx="4440314" cy="243525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40313" cy="2435258"/>
            </a:xfrm>
            <a:custGeom>
              <a:avLst/>
              <a:gdLst/>
              <a:ahLst/>
              <a:cxnLst/>
              <a:rect r="r" b="b" t="t" l="l"/>
              <a:pathLst>
                <a:path h="2435258" w="4440313">
                  <a:moveTo>
                    <a:pt x="0" y="0"/>
                  </a:moveTo>
                  <a:lnTo>
                    <a:pt x="4440313" y="0"/>
                  </a:lnTo>
                  <a:lnTo>
                    <a:pt x="4440313" y="2435258"/>
                  </a:lnTo>
                  <a:lnTo>
                    <a:pt x="0" y="2435258"/>
                  </a:lnTo>
                  <a:close/>
                </a:path>
              </a:pathLst>
            </a:custGeom>
            <a:solidFill>
              <a:srgbClr val="0097B2">
                <a:alpha val="58824"/>
              </a:srgbClr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40314" cy="247335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927470" y="2214438"/>
            <a:ext cx="14899431" cy="55440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35"/>
              </a:lnSpc>
            </a:pPr>
            <a:r>
              <a:rPr lang="en-US" b="true" sz="2739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The dataset appears to be a COVID-19 dataset, providing detailed information about the progression of the pandemic. Here are the key features and their descriptions:</a:t>
            </a:r>
          </a:p>
          <a:p>
            <a:pPr algn="l">
              <a:lnSpc>
                <a:spcPts val="3835"/>
              </a:lnSpc>
            </a:pPr>
          </a:p>
          <a:p>
            <a:pPr algn="l" marL="633778" indent="-316889" lvl="1">
              <a:lnSpc>
                <a:spcPts val="4109"/>
              </a:lnSpc>
              <a:buFont typeface="Arial"/>
              <a:buChar char="•"/>
            </a:pPr>
            <a:r>
              <a:rPr lang="en-US" b="true" sz="2935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Province: The province or state within the country.</a:t>
            </a:r>
          </a:p>
          <a:p>
            <a:pPr algn="l" marL="633778" indent="-316889" lvl="1">
              <a:lnSpc>
                <a:spcPts val="4109"/>
              </a:lnSpc>
              <a:buFont typeface="Arial"/>
              <a:buChar char="•"/>
            </a:pPr>
            <a:r>
              <a:rPr lang="en-US" b="true" sz="2935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Country/Region: The country or region where the data was recorded.</a:t>
            </a:r>
          </a:p>
          <a:p>
            <a:pPr algn="l" marL="633778" indent="-316889" lvl="1">
              <a:lnSpc>
                <a:spcPts val="4109"/>
              </a:lnSpc>
              <a:buFont typeface="Arial"/>
              <a:buChar char="•"/>
            </a:pPr>
            <a:r>
              <a:rPr lang="en-US" b="true" sz="2935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Latitude: Latitude coordinate for the location.</a:t>
            </a:r>
          </a:p>
          <a:p>
            <a:pPr algn="l" marL="633778" indent="-316889" lvl="1">
              <a:lnSpc>
                <a:spcPts val="4109"/>
              </a:lnSpc>
              <a:buFont typeface="Arial"/>
              <a:buChar char="•"/>
            </a:pPr>
            <a:r>
              <a:rPr lang="en-US" b="true" sz="2935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Longitude: Longitude coordinate for the location.</a:t>
            </a:r>
          </a:p>
          <a:p>
            <a:pPr algn="l" marL="633778" indent="-316889" lvl="1">
              <a:lnSpc>
                <a:spcPts val="4109"/>
              </a:lnSpc>
              <a:buFont typeface="Arial"/>
              <a:buChar char="•"/>
            </a:pPr>
            <a:r>
              <a:rPr lang="en-US" b="true" sz="2935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Date: The date when the data was recorded.</a:t>
            </a:r>
          </a:p>
          <a:p>
            <a:pPr algn="l" marL="633778" indent="-316889" lvl="1">
              <a:lnSpc>
                <a:spcPts val="4109"/>
              </a:lnSpc>
              <a:buFont typeface="Arial"/>
              <a:buChar char="•"/>
            </a:pPr>
            <a:r>
              <a:rPr lang="en-US" b="true" sz="2935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Confirmed: The number of confirmed COVID-19 cases.</a:t>
            </a:r>
          </a:p>
          <a:p>
            <a:pPr algn="l" marL="633778" indent="-316889" lvl="1">
              <a:lnSpc>
                <a:spcPts val="4109"/>
              </a:lnSpc>
              <a:buFont typeface="Arial"/>
              <a:buChar char="•"/>
            </a:pPr>
            <a:r>
              <a:rPr lang="en-US" b="true" sz="2935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Deaths: The number of deaths due to COVID-19.</a:t>
            </a:r>
          </a:p>
          <a:p>
            <a:pPr algn="l" marL="633778" indent="-316889" lvl="1">
              <a:lnSpc>
                <a:spcPts val="4109"/>
              </a:lnSpc>
              <a:buFont typeface="Arial"/>
              <a:buChar char="•"/>
            </a:pPr>
            <a:r>
              <a:rPr lang="en-US" b="true" sz="2935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Recovered: The number of recovered cases from COVID-19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927470" y="641168"/>
            <a:ext cx="13370096" cy="6893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79"/>
              </a:lnSpc>
              <a:spcBef>
                <a:spcPct val="0"/>
              </a:spcBef>
            </a:pPr>
            <a:r>
              <a:rPr lang="en-US" b="true" sz="3985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D</a:t>
            </a:r>
            <a:r>
              <a:rPr lang="en-US" b="true" sz="3985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ataset Source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250" t="0" r="-625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533914" y="1948561"/>
            <a:ext cx="6713781" cy="4982557"/>
          </a:xfrm>
          <a:custGeom>
            <a:avLst/>
            <a:gdLst/>
            <a:ahLst/>
            <a:cxnLst/>
            <a:rect r="r" b="b" t="t" l="l"/>
            <a:pathLst>
              <a:path h="4982557" w="6713781">
                <a:moveTo>
                  <a:pt x="0" y="0"/>
                </a:moveTo>
                <a:lnTo>
                  <a:pt x="6713780" y="0"/>
                </a:lnTo>
                <a:lnTo>
                  <a:pt x="6713780" y="4982556"/>
                </a:lnTo>
                <a:lnTo>
                  <a:pt x="0" y="498255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732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533914" y="7638910"/>
            <a:ext cx="13254268" cy="849927"/>
          </a:xfrm>
          <a:custGeom>
            <a:avLst/>
            <a:gdLst/>
            <a:ahLst/>
            <a:cxnLst/>
            <a:rect r="r" b="b" t="t" l="l"/>
            <a:pathLst>
              <a:path h="849927" w="13254268">
                <a:moveTo>
                  <a:pt x="0" y="0"/>
                </a:moveTo>
                <a:lnTo>
                  <a:pt x="13254268" y="0"/>
                </a:lnTo>
                <a:lnTo>
                  <a:pt x="13254268" y="849927"/>
                </a:lnTo>
                <a:lnTo>
                  <a:pt x="0" y="84992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6867919" y="121442"/>
            <a:ext cx="4025845" cy="589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b="true" sz="3399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QUESTION - 01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3361922" y="64292"/>
            <a:ext cx="5078478" cy="589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b="true" sz="3399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Corona Virus Analysis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19817" y="952500"/>
            <a:ext cx="6827877" cy="589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b="true" sz="3399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W</a:t>
            </a:r>
            <a:r>
              <a:rPr lang="en-US" b="true" sz="3399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rite a code to check NULL values.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0" y="8812687"/>
            <a:ext cx="10595647" cy="12635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3"/>
              </a:lnSpc>
              <a:spcBef>
                <a:spcPct val="0"/>
              </a:spcBef>
            </a:pPr>
            <a:r>
              <a:rPr lang="en-US" b="true" sz="3595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•The</a:t>
            </a:r>
            <a:r>
              <a:rPr lang="en-US" b="true" sz="3595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re are no null values in given dataset.</a:t>
            </a:r>
          </a:p>
          <a:p>
            <a:pPr algn="ctr">
              <a:lnSpc>
                <a:spcPts val="5033"/>
              </a:lnSpc>
              <a:spcBef>
                <a:spcPct val="0"/>
              </a:spcBef>
            </a:pPr>
          </a:p>
        </p:txBody>
      </p:sp>
      <p:sp>
        <p:nvSpPr>
          <p:cNvPr name="TextBox 9" id="9"/>
          <p:cNvSpPr txBox="true"/>
          <p:nvPr/>
        </p:nvSpPr>
        <p:spPr>
          <a:xfrm rot="0">
            <a:off x="14285661" y="9182100"/>
            <a:ext cx="3230999" cy="5733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624"/>
              </a:lnSpc>
              <a:spcBef>
                <a:spcPct val="0"/>
              </a:spcBef>
            </a:pPr>
            <a:r>
              <a:rPr lang="en-US" b="true" sz="3303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– By Ranjitha H S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250" t="0" r="-625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533914" y="1889086"/>
            <a:ext cx="10703387" cy="5403152"/>
          </a:xfrm>
          <a:custGeom>
            <a:avLst/>
            <a:gdLst/>
            <a:ahLst/>
            <a:cxnLst/>
            <a:rect r="r" b="b" t="t" l="l"/>
            <a:pathLst>
              <a:path h="5403152" w="10703387">
                <a:moveTo>
                  <a:pt x="0" y="0"/>
                </a:moveTo>
                <a:lnTo>
                  <a:pt x="10703387" y="0"/>
                </a:lnTo>
                <a:lnTo>
                  <a:pt x="10703387" y="5403152"/>
                </a:lnTo>
                <a:lnTo>
                  <a:pt x="0" y="540315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620560" y="7606563"/>
            <a:ext cx="13254268" cy="849927"/>
          </a:xfrm>
          <a:custGeom>
            <a:avLst/>
            <a:gdLst/>
            <a:ahLst/>
            <a:cxnLst/>
            <a:rect r="r" b="b" t="t" l="l"/>
            <a:pathLst>
              <a:path h="849927" w="13254268">
                <a:moveTo>
                  <a:pt x="0" y="0"/>
                </a:moveTo>
                <a:lnTo>
                  <a:pt x="13254268" y="0"/>
                </a:lnTo>
                <a:lnTo>
                  <a:pt x="13254268" y="849928"/>
                </a:lnTo>
                <a:lnTo>
                  <a:pt x="0" y="8499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6867919" y="121442"/>
            <a:ext cx="4025845" cy="589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b="true" sz="3399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QUESTION - 02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3361922" y="64292"/>
            <a:ext cx="5078478" cy="589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b="true" sz="3399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Corona Virus Analysis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0" y="952500"/>
            <a:ext cx="14563009" cy="1189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b="true" sz="3399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If NULL values a</a:t>
            </a:r>
            <a:r>
              <a:rPr lang="en-US" b="true" sz="3399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re present, update them with zeros for all columns.</a:t>
            </a:r>
          </a:p>
          <a:p>
            <a:pPr algn="ctr">
              <a:lnSpc>
                <a:spcPts val="4759"/>
              </a:lnSpc>
              <a:spcBef>
                <a:spcPct val="0"/>
              </a:spcBef>
            </a:pPr>
          </a:p>
        </p:txBody>
      </p:sp>
      <p:sp>
        <p:nvSpPr>
          <p:cNvPr name="TextBox 8" id="8"/>
          <p:cNvSpPr txBox="true"/>
          <p:nvPr/>
        </p:nvSpPr>
        <p:spPr>
          <a:xfrm rot="0">
            <a:off x="0" y="8812687"/>
            <a:ext cx="10595647" cy="12635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3"/>
              </a:lnSpc>
              <a:spcBef>
                <a:spcPct val="0"/>
              </a:spcBef>
            </a:pPr>
            <a:r>
              <a:rPr lang="en-US" b="true" sz="3595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•The</a:t>
            </a:r>
            <a:r>
              <a:rPr lang="en-US" b="true" sz="3595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re are no null values in given dataset.</a:t>
            </a:r>
          </a:p>
          <a:p>
            <a:pPr algn="ctr">
              <a:lnSpc>
                <a:spcPts val="5033"/>
              </a:lnSpc>
              <a:spcBef>
                <a:spcPct val="0"/>
              </a:spcBef>
            </a:pPr>
          </a:p>
        </p:txBody>
      </p:sp>
      <p:sp>
        <p:nvSpPr>
          <p:cNvPr name="TextBox 9" id="9"/>
          <p:cNvSpPr txBox="true"/>
          <p:nvPr/>
        </p:nvSpPr>
        <p:spPr>
          <a:xfrm rot="0">
            <a:off x="14187673" y="9172575"/>
            <a:ext cx="3426976" cy="6158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04"/>
              </a:lnSpc>
              <a:spcBef>
                <a:spcPct val="0"/>
              </a:spcBef>
            </a:pPr>
            <a:r>
              <a:rPr lang="en-US" b="true" sz="3503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– By Ranjitha H S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250" t="0" r="-625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419817" y="2575146"/>
            <a:ext cx="11668073" cy="1466410"/>
          </a:xfrm>
          <a:custGeom>
            <a:avLst/>
            <a:gdLst/>
            <a:ahLst/>
            <a:cxnLst/>
            <a:rect r="r" b="b" t="t" l="l"/>
            <a:pathLst>
              <a:path h="1466410" w="11668073">
                <a:moveTo>
                  <a:pt x="0" y="0"/>
                </a:moveTo>
                <a:lnTo>
                  <a:pt x="11668073" y="0"/>
                </a:lnTo>
                <a:lnTo>
                  <a:pt x="11668073" y="1466410"/>
                </a:lnTo>
                <a:lnTo>
                  <a:pt x="0" y="14664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559147" y="4834878"/>
            <a:ext cx="4738676" cy="1956334"/>
          </a:xfrm>
          <a:custGeom>
            <a:avLst/>
            <a:gdLst/>
            <a:ahLst/>
            <a:cxnLst/>
            <a:rect r="r" b="b" t="t" l="l"/>
            <a:pathLst>
              <a:path h="1956334" w="4738676">
                <a:moveTo>
                  <a:pt x="0" y="0"/>
                </a:moveTo>
                <a:lnTo>
                  <a:pt x="4738676" y="0"/>
                </a:lnTo>
                <a:lnTo>
                  <a:pt x="4738676" y="1956334"/>
                </a:lnTo>
                <a:lnTo>
                  <a:pt x="0" y="19563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6867919" y="121442"/>
            <a:ext cx="4025845" cy="589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b="true" sz="3399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QUESTION - 03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3361922" y="64292"/>
            <a:ext cx="5078478" cy="589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b="true" sz="3399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Corona Virus Analysis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94729" y="1310194"/>
            <a:ext cx="7933463" cy="589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b="true" sz="3399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Numb</a:t>
            </a:r>
            <a:r>
              <a:rPr lang="en-US" b="true" sz="3399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er of month present in dataset.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3943363" y="9172575"/>
            <a:ext cx="3915596" cy="6906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04"/>
              </a:lnSpc>
              <a:spcBef>
                <a:spcPct val="0"/>
              </a:spcBef>
            </a:pPr>
            <a:r>
              <a:rPr lang="en-US" b="true" sz="4003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– By Ranjitha H S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250" t="0" r="-625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765499" y="2671577"/>
            <a:ext cx="10128266" cy="1868527"/>
          </a:xfrm>
          <a:custGeom>
            <a:avLst/>
            <a:gdLst/>
            <a:ahLst/>
            <a:cxnLst/>
            <a:rect r="r" b="b" t="t" l="l"/>
            <a:pathLst>
              <a:path h="1868527" w="10128266">
                <a:moveTo>
                  <a:pt x="0" y="0"/>
                </a:moveTo>
                <a:lnTo>
                  <a:pt x="10128265" y="0"/>
                </a:lnTo>
                <a:lnTo>
                  <a:pt x="10128265" y="1868527"/>
                </a:lnTo>
                <a:lnTo>
                  <a:pt x="0" y="186852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765499" y="5464485"/>
            <a:ext cx="4292864" cy="1862941"/>
          </a:xfrm>
          <a:custGeom>
            <a:avLst/>
            <a:gdLst/>
            <a:ahLst/>
            <a:cxnLst/>
            <a:rect r="r" b="b" t="t" l="l"/>
            <a:pathLst>
              <a:path h="1862941" w="4292864">
                <a:moveTo>
                  <a:pt x="0" y="0"/>
                </a:moveTo>
                <a:lnTo>
                  <a:pt x="4292864" y="0"/>
                </a:lnTo>
                <a:lnTo>
                  <a:pt x="4292864" y="1862941"/>
                </a:lnTo>
                <a:lnTo>
                  <a:pt x="0" y="186294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6867919" y="121442"/>
            <a:ext cx="4025845" cy="589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b="true" sz="3399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QUESTION - 04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3361922" y="64292"/>
            <a:ext cx="5078478" cy="589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b="true" sz="3399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Corona Virus Analysis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795041" y="1318402"/>
            <a:ext cx="6366006" cy="6673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77"/>
              </a:lnSpc>
              <a:spcBef>
                <a:spcPct val="0"/>
              </a:spcBef>
            </a:pPr>
            <a:r>
              <a:rPr lang="en-US" b="true" sz="3912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C</a:t>
            </a:r>
            <a:r>
              <a:rPr lang="en-US" b="true" sz="3912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heck total number of rows.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3943363" y="9172575"/>
            <a:ext cx="3915596" cy="6906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04"/>
              </a:lnSpc>
              <a:spcBef>
                <a:spcPct val="0"/>
              </a:spcBef>
            </a:pPr>
            <a:r>
              <a:rPr lang="en-US" b="true" sz="4003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– By Ranjitha H S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250" t="0" r="-625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533914" y="2106968"/>
            <a:ext cx="10119908" cy="3451421"/>
          </a:xfrm>
          <a:custGeom>
            <a:avLst/>
            <a:gdLst/>
            <a:ahLst/>
            <a:cxnLst/>
            <a:rect r="r" b="b" t="t" l="l"/>
            <a:pathLst>
              <a:path h="3451421" w="10119908">
                <a:moveTo>
                  <a:pt x="0" y="0"/>
                </a:moveTo>
                <a:lnTo>
                  <a:pt x="10119908" y="0"/>
                </a:lnTo>
                <a:lnTo>
                  <a:pt x="10119908" y="3451422"/>
                </a:lnTo>
                <a:lnTo>
                  <a:pt x="0" y="345142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504130" y="6034640"/>
            <a:ext cx="7171153" cy="1982613"/>
          </a:xfrm>
          <a:custGeom>
            <a:avLst/>
            <a:gdLst/>
            <a:ahLst/>
            <a:cxnLst/>
            <a:rect r="r" b="b" t="t" l="l"/>
            <a:pathLst>
              <a:path h="1982613" w="7171153">
                <a:moveTo>
                  <a:pt x="0" y="0"/>
                </a:moveTo>
                <a:lnTo>
                  <a:pt x="7171153" y="0"/>
                </a:lnTo>
                <a:lnTo>
                  <a:pt x="7171153" y="1982613"/>
                </a:lnTo>
                <a:lnTo>
                  <a:pt x="0" y="198261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6867919" y="121442"/>
            <a:ext cx="4025845" cy="589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b="true" sz="3399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QUESTION - 05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3361922" y="64292"/>
            <a:ext cx="5078478" cy="589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b="true" sz="3399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Corona Virus Analysis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533914" y="1304102"/>
            <a:ext cx="7454861" cy="589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b="true" sz="3399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Ch</a:t>
            </a:r>
            <a:r>
              <a:rPr lang="en-US" b="true" sz="3399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eck what is start date and end date.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3943363" y="9172575"/>
            <a:ext cx="3915596" cy="6906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04"/>
              </a:lnSpc>
              <a:spcBef>
                <a:spcPct val="0"/>
              </a:spcBef>
            </a:pPr>
            <a:r>
              <a:rPr lang="en-US" b="true" sz="4003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– By Ranjitha H S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250" t="0" r="-625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533914" y="1856740"/>
            <a:ext cx="8346928" cy="6603408"/>
          </a:xfrm>
          <a:custGeom>
            <a:avLst/>
            <a:gdLst/>
            <a:ahLst/>
            <a:cxnLst/>
            <a:rect r="r" b="b" t="t" l="l"/>
            <a:pathLst>
              <a:path h="6603408" w="8346928">
                <a:moveTo>
                  <a:pt x="0" y="0"/>
                </a:moveTo>
                <a:lnTo>
                  <a:pt x="8346928" y="0"/>
                </a:lnTo>
                <a:lnTo>
                  <a:pt x="8346928" y="6603409"/>
                </a:lnTo>
                <a:lnTo>
                  <a:pt x="0" y="660340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9540417" y="3533483"/>
            <a:ext cx="6757161" cy="5724817"/>
          </a:xfrm>
          <a:custGeom>
            <a:avLst/>
            <a:gdLst/>
            <a:ahLst/>
            <a:cxnLst/>
            <a:rect r="r" b="b" t="t" l="l"/>
            <a:pathLst>
              <a:path h="5724817" w="6757161">
                <a:moveTo>
                  <a:pt x="0" y="0"/>
                </a:moveTo>
                <a:lnTo>
                  <a:pt x="6757161" y="0"/>
                </a:lnTo>
                <a:lnTo>
                  <a:pt x="6757161" y="5724817"/>
                </a:lnTo>
                <a:lnTo>
                  <a:pt x="0" y="57248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6867919" y="121442"/>
            <a:ext cx="4025845" cy="589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b="true" sz="3399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QUESTION - 06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3361922" y="64292"/>
            <a:ext cx="5078478" cy="589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b="true" sz="3399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Corona Virus Analysis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0" y="952500"/>
            <a:ext cx="15237502" cy="589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b="true" sz="3399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F</a:t>
            </a:r>
            <a:r>
              <a:rPr lang="en-US" b="true" sz="3399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ind most frequent value for confirmed, deaths, recovered each month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3943363" y="9172575"/>
            <a:ext cx="3915596" cy="6906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04"/>
              </a:lnSpc>
              <a:spcBef>
                <a:spcPct val="0"/>
              </a:spcBef>
            </a:pPr>
            <a:r>
              <a:rPr lang="en-US" b="true" sz="4003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– By Ranjitha H S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250" t="0" r="-625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533914" y="1899829"/>
            <a:ext cx="8610086" cy="7115180"/>
          </a:xfrm>
          <a:custGeom>
            <a:avLst/>
            <a:gdLst/>
            <a:ahLst/>
            <a:cxnLst/>
            <a:rect r="r" b="b" t="t" l="l"/>
            <a:pathLst>
              <a:path h="7115180" w="8610086">
                <a:moveTo>
                  <a:pt x="0" y="0"/>
                </a:moveTo>
                <a:lnTo>
                  <a:pt x="8610086" y="0"/>
                </a:lnTo>
                <a:lnTo>
                  <a:pt x="8610086" y="7115180"/>
                </a:lnTo>
                <a:lnTo>
                  <a:pt x="0" y="71151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9448762" y="2142490"/>
            <a:ext cx="7826320" cy="7126866"/>
          </a:xfrm>
          <a:custGeom>
            <a:avLst/>
            <a:gdLst/>
            <a:ahLst/>
            <a:cxnLst/>
            <a:rect r="r" b="b" t="t" l="l"/>
            <a:pathLst>
              <a:path h="7126866" w="7826320">
                <a:moveTo>
                  <a:pt x="0" y="0"/>
                </a:moveTo>
                <a:lnTo>
                  <a:pt x="7826320" y="0"/>
                </a:lnTo>
                <a:lnTo>
                  <a:pt x="7826320" y="7126866"/>
                </a:lnTo>
                <a:lnTo>
                  <a:pt x="0" y="71268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6867919" y="121442"/>
            <a:ext cx="4025845" cy="589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b="true" sz="3399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QUESTION - 07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3361922" y="64292"/>
            <a:ext cx="5078478" cy="589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b="true" sz="3399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Corona Virus Analysis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0" y="952500"/>
            <a:ext cx="12189844" cy="1189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b="true" sz="3399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F</a:t>
            </a:r>
            <a:r>
              <a:rPr lang="en-US" b="true" sz="3399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ind monthly average for confirmed, deaths, recovered.</a:t>
            </a:r>
          </a:p>
          <a:p>
            <a:pPr algn="ctr">
              <a:lnSpc>
                <a:spcPts val="4759"/>
              </a:lnSpc>
              <a:spcBef>
                <a:spcPct val="0"/>
              </a:spcBef>
            </a:pPr>
          </a:p>
        </p:txBody>
      </p:sp>
      <p:sp>
        <p:nvSpPr>
          <p:cNvPr name="TextBox 8" id="8"/>
          <p:cNvSpPr txBox="true"/>
          <p:nvPr/>
        </p:nvSpPr>
        <p:spPr>
          <a:xfrm rot="0">
            <a:off x="13943363" y="9172575"/>
            <a:ext cx="3915596" cy="6906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04"/>
              </a:lnSpc>
              <a:spcBef>
                <a:spcPct val="0"/>
              </a:spcBef>
            </a:pPr>
            <a:r>
              <a:rPr lang="en-US" b="true" sz="4003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– By Ranjitha H S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250" t="0" r="-625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533914" y="1856740"/>
            <a:ext cx="9154969" cy="7401560"/>
          </a:xfrm>
          <a:custGeom>
            <a:avLst/>
            <a:gdLst/>
            <a:ahLst/>
            <a:cxnLst/>
            <a:rect r="r" b="b" t="t" l="l"/>
            <a:pathLst>
              <a:path h="7401560" w="9154969">
                <a:moveTo>
                  <a:pt x="0" y="0"/>
                </a:moveTo>
                <a:lnTo>
                  <a:pt x="9154969" y="0"/>
                </a:lnTo>
                <a:lnTo>
                  <a:pt x="9154969" y="7401560"/>
                </a:lnTo>
                <a:lnTo>
                  <a:pt x="0" y="740156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0175992" y="2526092"/>
            <a:ext cx="7224380" cy="6732208"/>
          </a:xfrm>
          <a:custGeom>
            <a:avLst/>
            <a:gdLst/>
            <a:ahLst/>
            <a:cxnLst/>
            <a:rect r="r" b="b" t="t" l="l"/>
            <a:pathLst>
              <a:path h="6732208" w="7224380">
                <a:moveTo>
                  <a:pt x="0" y="0"/>
                </a:moveTo>
                <a:lnTo>
                  <a:pt x="7224380" y="0"/>
                </a:lnTo>
                <a:lnTo>
                  <a:pt x="7224380" y="6732208"/>
                </a:lnTo>
                <a:lnTo>
                  <a:pt x="0" y="67322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6867919" y="121442"/>
            <a:ext cx="4025845" cy="589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b="true" sz="3399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QUESTION - 08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3361922" y="64292"/>
            <a:ext cx="5078478" cy="589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b="true" sz="3399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Corona Virus Analysis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0" y="952500"/>
            <a:ext cx="13788182" cy="589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b="true" sz="3399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Find min</a:t>
            </a:r>
            <a:r>
              <a:rPr lang="en-US" b="true" sz="3399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imum values for confirmed, deaths, recovered per year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3943363" y="9172575"/>
            <a:ext cx="3915596" cy="6906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04"/>
              </a:lnSpc>
              <a:spcBef>
                <a:spcPct val="0"/>
              </a:spcBef>
            </a:pPr>
            <a:r>
              <a:rPr lang="en-US" b="true" sz="4003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– By Ranjitha H S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250" t="0" r="-625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419817" y="1710766"/>
            <a:ext cx="8461025" cy="6911437"/>
          </a:xfrm>
          <a:custGeom>
            <a:avLst/>
            <a:gdLst/>
            <a:ahLst/>
            <a:cxnLst/>
            <a:rect r="r" b="b" t="t" l="l"/>
            <a:pathLst>
              <a:path h="6911437" w="8461025">
                <a:moveTo>
                  <a:pt x="0" y="0"/>
                </a:moveTo>
                <a:lnTo>
                  <a:pt x="8461025" y="0"/>
                </a:lnTo>
                <a:lnTo>
                  <a:pt x="8461025" y="6911437"/>
                </a:lnTo>
                <a:lnTo>
                  <a:pt x="0" y="691143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9390319" y="2271890"/>
            <a:ext cx="7943206" cy="6986410"/>
          </a:xfrm>
          <a:custGeom>
            <a:avLst/>
            <a:gdLst/>
            <a:ahLst/>
            <a:cxnLst/>
            <a:rect r="r" b="b" t="t" l="l"/>
            <a:pathLst>
              <a:path h="6986410" w="7943206">
                <a:moveTo>
                  <a:pt x="0" y="0"/>
                </a:moveTo>
                <a:lnTo>
                  <a:pt x="7943206" y="0"/>
                </a:lnTo>
                <a:lnTo>
                  <a:pt x="7943206" y="6986410"/>
                </a:lnTo>
                <a:lnTo>
                  <a:pt x="0" y="698641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6867919" y="121442"/>
            <a:ext cx="4025845" cy="589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b="true" sz="3399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QUESTION - 09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3361922" y="64292"/>
            <a:ext cx="5078478" cy="589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b="true" sz="3399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Corona Virus Analysis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0" y="952500"/>
            <a:ext cx="12787723" cy="589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b="true" sz="3399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Total Confirmed, Deaths &amp; Recovered Cases across months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3943363" y="9172575"/>
            <a:ext cx="3915596" cy="6906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04"/>
              </a:lnSpc>
              <a:spcBef>
                <a:spcPct val="0"/>
              </a:spcBef>
            </a:pPr>
            <a:r>
              <a:rPr lang="en-US" b="true" sz="4003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– By Ranjitha H S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250" t="0" r="-625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533914" y="2599618"/>
            <a:ext cx="11244217" cy="3580320"/>
          </a:xfrm>
          <a:custGeom>
            <a:avLst/>
            <a:gdLst/>
            <a:ahLst/>
            <a:cxnLst/>
            <a:rect r="r" b="b" t="t" l="l"/>
            <a:pathLst>
              <a:path h="3580320" w="11244217">
                <a:moveTo>
                  <a:pt x="0" y="0"/>
                </a:moveTo>
                <a:lnTo>
                  <a:pt x="11244216" y="0"/>
                </a:lnTo>
                <a:lnTo>
                  <a:pt x="11244216" y="3580320"/>
                </a:lnTo>
                <a:lnTo>
                  <a:pt x="0" y="35803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533914" y="7141933"/>
            <a:ext cx="10808300" cy="794485"/>
          </a:xfrm>
          <a:custGeom>
            <a:avLst/>
            <a:gdLst/>
            <a:ahLst/>
            <a:cxnLst/>
            <a:rect r="r" b="b" t="t" l="l"/>
            <a:pathLst>
              <a:path h="794485" w="10808300">
                <a:moveTo>
                  <a:pt x="0" y="0"/>
                </a:moveTo>
                <a:lnTo>
                  <a:pt x="10808300" y="0"/>
                </a:lnTo>
                <a:lnTo>
                  <a:pt x="10808300" y="794484"/>
                </a:lnTo>
                <a:lnTo>
                  <a:pt x="0" y="7944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6867919" y="121442"/>
            <a:ext cx="4025845" cy="589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b="true" sz="3399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QUESTION - 10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3361922" y="64292"/>
            <a:ext cx="5078478" cy="589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b="true" sz="3399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Corona Virus Analysis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0" y="875235"/>
            <a:ext cx="14410822" cy="1189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b="true" sz="3399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Check how co</a:t>
            </a:r>
            <a:r>
              <a:rPr lang="en-US" b="true" sz="3399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rona virus spread out with respect to confirmed case</a:t>
            </a:r>
          </a:p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b="true" sz="3399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(Eg.: total confirmed cases, their average, variance &amp; STDEV)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250" t="0" r="-625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356896" y="2619164"/>
            <a:ext cx="8262496" cy="4907798"/>
          </a:xfrm>
          <a:custGeom>
            <a:avLst/>
            <a:gdLst/>
            <a:ahLst/>
            <a:cxnLst/>
            <a:rect r="r" b="b" t="t" l="l"/>
            <a:pathLst>
              <a:path h="4907798" w="8262496">
                <a:moveTo>
                  <a:pt x="0" y="0"/>
                </a:moveTo>
                <a:lnTo>
                  <a:pt x="8262496" y="0"/>
                </a:lnTo>
                <a:lnTo>
                  <a:pt x="8262496" y="4907798"/>
                </a:lnTo>
                <a:lnTo>
                  <a:pt x="0" y="490779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9144000" y="5427866"/>
            <a:ext cx="8049250" cy="4198194"/>
          </a:xfrm>
          <a:custGeom>
            <a:avLst/>
            <a:gdLst/>
            <a:ahLst/>
            <a:cxnLst/>
            <a:rect r="r" b="b" t="t" l="l"/>
            <a:pathLst>
              <a:path h="4198194" w="8049250">
                <a:moveTo>
                  <a:pt x="0" y="0"/>
                </a:moveTo>
                <a:lnTo>
                  <a:pt x="8049250" y="0"/>
                </a:lnTo>
                <a:lnTo>
                  <a:pt x="8049250" y="4198193"/>
                </a:lnTo>
                <a:lnTo>
                  <a:pt x="0" y="419819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6867919" y="121442"/>
            <a:ext cx="4025845" cy="589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b="true" sz="3399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QUESTION - 11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3361922" y="64292"/>
            <a:ext cx="5078478" cy="589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b="true" sz="3399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Corona Virus Analysis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0" y="952500"/>
            <a:ext cx="14778715" cy="17900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b="true" sz="3399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Check how co</a:t>
            </a:r>
            <a:r>
              <a:rPr lang="en-US" b="true" sz="3399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rona virus spread out with respect to Confirmed case per month Eg.: total confirmed cases, their average, variance &amp; STDEV)</a:t>
            </a:r>
          </a:p>
          <a:p>
            <a:pPr algn="ctr">
              <a:lnSpc>
                <a:spcPts val="4759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250" t="0" r="-625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424960" y="2494807"/>
            <a:ext cx="8149462" cy="5274373"/>
          </a:xfrm>
          <a:custGeom>
            <a:avLst/>
            <a:gdLst/>
            <a:ahLst/>
            <a:cxnLst/>
            <a:rect r="r" b="b" t="t" l="l"/>
            <a:pathLst>
              <a:path h="5274373" w="8149462">
                <a:moveTo>
                  <a:pt x="0" y="0"/>
                </a:moveTo>
                <a:lnTo>
                  <a:pt x="8149463" y="0"/>
                </a:lnTo>
                <a:lnTo>
                  <a:pt x="8149463" y="5274372"/>
                </a:lnTo>
                <a:lnTo>
                  <a:pt x="0" y="527437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9732875" y="5446808"/>
            <a:ext cx="7825252" cy="4644743"/>
          </a:xfrm>
          <a:custGeom>
            <a:avLst/>
            <a:gdLst/>
            <a:ahLst/>
            <a:cxnLst/>
            <a:rect r="r" b="b" t="t" l="l"/>
            <a:pathLst>
              <a:path h="4644743" w="7825252">
                <a:moveTo>
                  <a:pt x="0" y="0"/>
                </a:moveTo>
                <a:lnTo>
                  <a:pt x="7825252" y="0"/>
                </a:lnTo>
                <a:lnTo>
                  <a:pt x="7825252" y="4644743"/>
                </a:lnTo>
                <a:lnTo>
                  <a:pt x="0" y="464474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6867919" y="121442"/>
            <a:ext cx="4025845" cy="589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b="true" sz="3399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QUESTION - 12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3361922" y="64292"/>
            <a:ext cx="5078478" cy="589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b="true" sz="3399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Corona Virus Analysis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0" y="952500"/>
            <a:ext cx="15139191" cy="17900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b="true" sz="3399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Check how co</a:t>
            </a:r>
            <a:r>
              <a:rPr lang="en-US" b="true" sz="3399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rona virus spread out with respect to Death case per month Eg.: total confirmed cases, their average, variance &amp; STDEV)</a:t>
            </a:r>
          </a:p>
          <a:p>
            <a:pPr algn="ctr">
              <a:lnSpc>
                <a:spcPts val="4759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250" t="0" r="-625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533914" y="2185526"/>
            <a:ext cx="10962500" cy="3979214"/>
          </a:xfrm>
          <a:custGeom>
            <a:avLst/>
            <a:gdLst/>
            <a:ahLst/>
            <a:cxnLst/>
            <a:rect r="r" b="b" t="t" l="l"/>
            <a:pathLst>
              <a:path h="3979214" w="10962500">
                <a:moveTo>
                  <a:pt x="0" y="0"/>
                </a:moveTo>
                <a:lnTo>
                  <a:pt x="10962499" y="0"/>
                </a:lnTo>
                <a:lnTo>
                  <a:pt x="10962499" y="3979214"/>
                </a:lnTo>
                <a:lnTo>
                  <a:pt x="0" y="397921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9510948" y="6164740"/>
            <a:ext cx="7748352" cy="3874176"/>
          </a:xfrm>
          <a:custGeom>
            <a:avLst/>
            <a:gdLst/>
            <a:ahLst/>
            <a:cxnLst/>
            <a:rect r="r" b="b" t="t" l="l"/>
            <a:pathLst>
              <a:path h="3874176" w="7748352">
                <a:moveTo>
                  <a:pt x="0" y="0"/>
                </a:moveTo>
                <a:lnTo>
                  <a:pt x="7748352" y="0"/>
                </a:lnTo>
                <a:lnTo>
                  <a:pt x="7748352" y="3874177"/>
                </a:lnTo>
                <a:lnTo>
                  <a:pt x="0" y="387417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6867919" y="121442"/>
            <a:ext cx="4025845" cy="589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b="true" sz="3399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QUESTION - 13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3361922" y="64292"/>
            <a:ext cx="5078478" cy="589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b="true" sz="3399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Corona Virus Analysis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0" y="952500"/>
            <a:ext cx="12812483" cy="1189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b="true" sz="3399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F</a:t>
            </a:r>
            <a:r>
              <a:rPr lang="en-US" b="true" sz="3399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ind Country having highest number of the Confirmed case.</a:t>
            </a:r>
          </a:p>
          <a:p>
            <a:pPr algn="ctr">
              <a:lnSpc>
                <a:spcPts val="4759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250" t="0" r="-625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533914" y="1730398"/>
            <a:ext cx="8978831" cy="5218008"/>
          </a:xfrm>
          <a:custGeom>
            <a:avLst/>
            <a:gdLst/>
            <a:ahLst/>
            <a:cxnLst/>
            <a:rect r="r" b="b" t="t" l="l"/>
            <a:pathLst>
              <a:path h="5218008" w="8978831">
                <a:moveTo>
                  <a:pt x="0" y="0"/>
                </a:moveTo>
                <a:lnTo>
                  <a:pt x="8978831" y="0"/>
                </a:lnTo>
                <a:lnTo>
                  <a:pt x="8978831" y="5218008"/>
                </a:lnTo>
                <a:lnTo>
                  <a:pt x="0" y="52180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9512745" y="6195267"/>
            <a:ext cx="8443342" cy="3803136"/>
          </a:xfrm>
          <a:custGeom>
            <a:avLst/>
            <a:gdLst/>
            <a:ahLst/>
            <a:cxnLst/>
            <a:rect r="r" b="b" t="t" l="l"/>
            <a:pathLst>
              <a:path h="3803136" w="8443342">
                <a:moveTo>
                  <a:pt x="0" y="0"/>
                </a:moveTo>
                <a:lnTo>
                  <a:pt x="8443342" y="0"/>
                </a:lnTo>
                <a:lnTo>
                  <a:pt x="8443342" y="3803136"/>
                </a:lnTo>
                <a:lnTo>
                  <a:pt x="0" y="38031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-7141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6867919" y="121442"/>
            <a:ext cx="4025845" cy="589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b="true" sz="3399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QUESTION - 14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3361922" y="64292"/>
            <a:ext cx="5078478" cy="589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b="true" sz="3399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Corona Virus Analysis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0" y="952500"/>
            <a:ext cx="10893764" cy="1189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b="true" sz="3399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Count</a:t>
            </a:r>
            <a:r>
              <a:rPr lang="en-US" b="true" sz="3399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ry having lowest number of the death case</a:t>
            </a:r>
          </a:p>
          <a:p>
            <a:pPr algn="ctr">
              <a:lnSpc>
                <a:spcPts val="4759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250" t="0" r="-625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419817" y="2104154"/>
            <a:ext cx="10993321" cy="4141959"/>
          </a:xfrm>
          <a:custGeom>
            <a:avLst/>
            <a:gdLst/>
            <a:ahLst/>
            <a:cxnLst/>
            <a:rect r="r" b="b" t="t" l="l"/>
            <a:pathLst>
              <a:path h="4141959" w="10993321">
                <a:moveTo>
                  <a:pt x="0" y="0"/>
                </a:moveTo>
                <a:lnTo>
                  <a:pt x="10993320" y="0"/>
                </a:lnTo>
                <a:lnTo>
                  <a:pt x="10993320" y="4141959"/>
                </a:lnTo>
                <a:lnTo>
                  <a:pt x="0" y="41419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9863957" y="6504030"/>
            <a:ext cx="7758671" cy="3782970"/>
          </a:xfrm>
          <a:custGeom>
            <a:avLst/>
            <a:gdLst/>
            <a:ahLst/>
            <a:cxnLst/>
            <a:rect r="r" b="b" t="t" l="l"/>
            <a:pathLst>
              <a:path h="3782970" w="7758671">
                <a:moveTo>
                  <a:pt x="0" y="0"/>
                </a:moveTo>
                <a:lnTo>
                  <a:pt x="7758672" y="0"/>
                </a:lnTo>
                <a:lnTo>
                  <a:pt x="7758672" y="3782970"/>
                </a:lnTo>
                <a:lnTo>
                  <a:pt x="0" y="378297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-6345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6867919" y="121442"/>
            <a:ext cx="4025845" cy="589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b="true" sz="3399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QUESTION - 15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3361922" y="64292"/>
            <a:ext cx="5078478" cy="589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b="true" sz="3399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Corona Virus Analysis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19817" y="952500"/>
            <a:ext cx="10321924" cy="1189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b="true" sz="3399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F</a:t>
            </a:r>
            <a:r>
              <a:rPr lang="en-US" b="true" sz="3399">
                <a:solidFill>
                  <a:srgbClr val="FFFFFE"/>
                </a:solidFill>
                <a:latin typeface="Cambria Bold"/>
                <a:ea typeface="Cambria Bold"/>
                <a:cs typeface="Cambria Bold"/>
                <a:sym typeface="Cambria Bold"/>
              </a:rPr>
              <a:t>ind top 5 countries having highest recovered case</a:t>
            </a:r>
          </a:p>
          <a:p>
            <a:pPr algn="ctr">
              <a:lnSpc>
                <a:spcPts val="4759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250" t="0" r="-625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2273060" y="2670190"/>
            <a:ext cx="13741879" cy="6338442"/>
          </a:xfrm>
          <a:custGeom>
            <a:avLst/>
            <a:gdLst/>
            <a:ahLst/>
            <a:cxnLst/>
            <a:rect r="r" b="b" t="t" l="l"/>
            <a:pathLst>
              <a:path h="6338442" w="13741879">
                <a:moveTo>
                  <a:pt x="0" y="0"/>
                </a:moveTo>
                <a:lnTo>
                  <a:pt x="13741880" y="0"/>
                </a:lnTo>
                <a:lnTo>
                  <a:pt x="13741880" y="6338442"/>
                </a:lnTo>
                <a:lnTo>
                  <a:pt x="0" y="63384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4690161" y="1028700"/>
            <a:ext cx="8207057" cy="1382833"/>
          </a:xfrm>
          <a:custGeom>
            <a:avLst/>
            <a:gdLst/>
            <a:ahLst/>
            <a:cxnLst/>
            <a:rect r="r" b="b" t="t" l="l"/>
            <a:pathLst>
              <a:path h="1382833" w="8207057">
                <a:moveTo>
                  <a:pt x="0" y="0"/>
                </a:moveTo>
                <a:lnTo>
                  <a:pt x="8207057" y="0"/>
                </a:lnTo>
                <a:lnTo>
                  <a:pt x="8207057" y="1382833"/>
                </a:lnTo>
                <a:lnTo>
                  <a:pt x="0" y="138283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DAHCrbwjL64</dc:identifier>
  <dcterms:modified xsi:type="dcterms:W3CDTF">2011-08-01T06:04:30Z</dcterms:modified>
  <cp:revision>1</cp:revision>
  <dc:title>Corona-Virus Analysis</dc:title>
</cp:coreProperties>
</file>